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-regular.fntdata"/><Relationship Id="rId43" Type="http://schemas.openxmlformats.org/officeDocument/2006/relationships/slide" Target="slides/slide38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COPERTINA: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Benvenuti al Lab II (product_analytics) del workshop Google Cloud Applied AI.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Ogni query del laboratorio è presentata con 4 slide: Obiettivo di Business, Diagramma E/R (Mermaid erDiagram), Listato SQL e Particolarità Tecniche.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slide_179173350661275754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slide_179173350661275754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MAPPA E/R COMPLETA (7 TABELLE):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TABELLA DI APPOGGIO PER RELAZIONE M:N (batch_components):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La tabella batch_components è la tabella di appoggio (tabella ponte associativa) che serve a rappresentare la relazione molti-a-molti (M:N) tra production_batches (i lotti di prodotto finito) e component_lots (i lotti di componenti ricevuti dai fornitori).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Ogni lotto di produzione monta 5 componenti diversi e ogni lotto di componenti viene impiegato in più batch: per questo la sua Primary Key è la chiave composta (batch_id, lot_id), dove entrambi gli attributi sono marcati PK,FK.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Review_insights E’ IL RISULTATO DELL’ESERCIZIO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La tabella review_insights (in verde) viene popolata da AI.GENERATE a partire da product_reviews.review_text e si collega a component_lots tramite il predicato semantico affected_component = component_type.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_1791733506612824965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_179173350661282496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01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CONTESTO DI BUSINESS: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La maggior parte delle recensioni e-commerce non riguarda difetti di fabbricazione ma ritardi del corriere, imballaggi o giudizi positivi.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Prima di avviare indagini ingegneristiche costose, il team Qualità deve rispondere a 3 domande: è un difetto reale? Di che categoria? Quanto è urgente?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slide_1791733506613408599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slide_1791733506613408599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_179173350661344344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_179173350661344344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01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SINTASSI E PARAMETRI DI INGRESSO/USCITA DELLE 3 FUNZIONI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AI.IF(prompt, connection_id =&gt; ..., optimization_mode =&gt; ...):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 Input: tupla (istruzione, review_text), connection_id (opzionale), optimization_mode =&gt; 'MINIMIZE_COST' (opzionale).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 Output: scalare BOOL diretto (TRUE/FALSE, senza .result).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AI.CLASSIFY(input, categories =&gt; [...], connection_id =&gt; ..., optimization_mode =&gt; ...):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 Input: review_text, array categories di 5 stringhe, connection_id (opzionale), optimization_mode (opzionale).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 Output: scalare STRING diretto contenente una delle categorie fornite.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AI.GENERATE_INT(prompt, connection_id =&gt; ..., endpoint =&gt; ...):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 Input: tupla (istruzione, review_text), connection_id (opzionale), endpoint =&gt; 'gemini-2.5-flash'.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 Output: STRUCT con campo .result tipizzato INT64 (valutazione 1..5).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È POSSIBILE OMETTERE connection_id =&gt; 'us.vertex-ai-conn' (CONNESSIONE DI DEFAULT / END-USER CREDENTIALS)?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Sì: nelle funzioni BigQuery AI il parametro connection_id è OPZIONALE.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Se si omette connection_id, BigQuery autentica la chiamata verso Vertex AI usando direttamente le End-User Credentials (EUC) dell'utente che esegue la query (purché l'utente abbia il ruolo IAM roles/aiplatform.user sul progetto).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 alternativa, un amministratore può configurare una Cloud Resource Connection di default a livello di progetto o organizzazione (tramite ALTER PROJECT / ALTER ORGANIZATION SET OPTIONS) così da non doverla specificare in ogni query.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Perché la passiamo esplicitamente negli script del workshop? Nei flussi di produzione (es. Stored Procedure schedulate come nel Modulo 03 o viste condivise) esplicitare connection_id delega i permessi Vertex AI al Service Account della connessione anziché dipendere dai permessi personali del singolo utente.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slide_179173350661348539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slide_179173350661348539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NOTE PER IL DOCENTE — MODULO 01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PERCHÉ NON USARE SEMPRE AI.CLASSIFY PER TUTTI E 3 I SEGNALI?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• Tipo di ritorno SQL nativo (BOOL vs STRING vs INT64): AI.CLASSIFY restituisce sempre e solo una STRING. Se usassimo AI.CLASSIFY per il filtro difetti o per l'urgenza, otterremmo stringhe testuali che richiedono CAST espliciti. Invece: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- AI.IF restituisce direttamente un BOOL SQL nativo, immediatamente utilizzabile in WHERE, COUNTIF() o JOIN 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- AI.CLASSIFY restituisce una STRING vincolata a una tassonomia chiusa nominale (5 categorie mutuamente esclusive).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- AI.GENERATE_INT restituisce un INT64 nativo (tramite .result), pronto per operazioni matematiche (AVG, &gt;= 4, SUM).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• Calibrazione semantica del task: ogni funzione istruisce il modello con un prompt di sistema ottimizzato per quel compito.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PERCHÉ IN AI.GENERATE_INT INDICHIAMO endpoint =&gt; 'gemini-2.5-flash' MENTRE IN AI.IF E AI.CLASSIFY NO?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• AI.IF, AI.CLASSIFY e AI.SCORE sono funzioni 'managed' (task-specific): BigQuery seleziona e gestisce automaticamente il modello ottimale sotto il cofano (e quando optimization_mode =&gt; 'MINIMIZE_COST' è attivo, orchestra sia il modello teacher sia lo student distillato), pertanto non richiedono il parametro endpoint.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• AI.GENERATE_INT (come tutta la famiglia AI.GENERATE*) offre invece controllo diretto sul modello generativo: anche se endpoint ha un default se omesso, in produzione è best practice esplicitare endpoint =&gt; 'gemini-2.5-flash' per fissare versione, costi e latenza.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PERCHÉ AI.GENERATE_INT NON HA optimization_mode =&gt; 'MINIMIZE_COST'? LA DISTILLAZIONE È IMPLICITA?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• No: il parametro optimization_mode =&gt; 'MINIMIZE_COST' (distillazione automatica teacher-student) è supportato esclusivamente dalle funzioni gestite di filtraggio e classificazione AI.IF e AI.CLASSIFY.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• AI.GENERATE_INT non supporta il parametro optimization_mode né esegue distillazione implicita: invoca direttamente il modello Gemini per ogni riga. Per contenere i costi con AI.GENERATE_INT si utilizza un modello veloce ed economico come 'gemini-2.5-flash'.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slide_1791733506613555528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slide_1791733506613555528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slide_179173350661360676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slide_179173350661360676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02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Anche qui la query esegue una SELECT con filtro e ordinamento: per questo usiamo la freccia semplice 'SELECT' (senza zampe di gallina E/R) dalla tabella product_reviews alla coda ordinata delle 15 recensioni più critiche.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slide_179173350661363338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slide_179173350661363338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02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PARAMETRI E SINTASSI DI AI.SCORE: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Input: tupla contenente (criterio_scoring, review_text) e parametro opzionale connection_id =&gt; 'us.vertex-ai-conn'.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Output: scalare FLOAT64 continuo normalizzato tra 0 e 100 restituito direttamente (senza .result!).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FILTRO E ORDINAMENTO IN SQL: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WHERE r.rating &lt;= 2 applica un filtro relazionale deterministico prima della SELECT per escludere recensioni neutre o positive.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L'alias safety_hazard_score calcolato nella SELECT viene riutilizzato direttamente nella clausola ORDER BY DESC con LIMIT 15 per estrarre le anomalie fisiche prioritarie.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_179173350661367214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_179173350661367214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02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Approfondire il confronto AI.SCORE vs AI.GENERATE_INT: non è un limite sintattico di SQL (anche AI.GENERATE_INT(...).result può stare in ORDER BY), bensì una scelta di qualità del ranking (FLOAT64 continuo + rubrica auto-calibrata vs intero discreto senza rubrica).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DOMANDA CHIAVE: SOLO AI.SCORE PUÒ ANDARE NELLA ORDER BY? PERCHÉ NON USARE AI.GENERATE_INT()?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Dal punto di vista sintattico SQL, QUALSIASI espressione scalare può andare nella ORDER BY, incluso AI.GENERATE_INT(...).result!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Tuttavia, per ordinare una coda di priorità (ranking Top-K), AI.SCORE è nettamente superiore a AI.GENERATE_INT per 3 motivi: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1. Granularità continua (FLOAT64 0–100) vs discreta (INT64 1–5): con AI.GENERATE_INT su scala 1..5, su 30 recensioni gravi ne avremmo decine tutte a pari merito (ex-aequo) con valore 5, rendendo arbitrario il taglio LIMIT 15. AI.SCORE restituisce un FLOAT64 continuo che separa finemente i casi.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2. Auto-calibrazione della rubrica (Auto-Rubric): AI.SCORE analizza il criterio di valutazione e genera internamente una rubrica di scoring strutturata e coerente applicata a tutte le righe della query.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3. Sintassi diretta managed: AI.SCORE restituisce direttamente un FLOAT64 (senza .result) e gestisce automaticamente il modello senza parametro endpoint.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slide_1791733506613730169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slide_1791733506613730169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03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Qui passiamo dalla Fase 1 (esplorazione interattiva dei Moduli 01-02) alla Fase 2 (consolidamento di un patrimonio informativo strutturato permanente).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L'obiettivo di business è alimentare una pipeline incrementale resiliente che estragga automaticamente tutti i segnali di qualità dai reclami dei clienti senza duplicare il lavoro sui dati già processati.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slide_1791733506613777963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slide_179173350661377796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03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Le relazioni nel diagramma mostrano le chiavi fisiche: 1:N sku tra products e product_reviews, e 1:1 review_id verso review_insights.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Logica chiave della Stored Procedure: Anti-Join incrementale (LEFT JOIN WHERE review_insights IS NULL), AI.GENERATE multi-campo con output_schema STRUCT a 6 campi e ciclo REPEAT per retry automatico su errori HTTP 429.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slide_1791733506613803823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slide_1791733506613803823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03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PARAMETRI E STRUTTURA DI OUTPUT DI AI.GENERATE: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Input: tupla prompt (istruzioni di estrazione multi-campo), connection_id =&gt; 'us.vertex-ai-conn', endpoint =&gt; 'gemini-2.5-flash' e parametro DDL output_schema.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Output: STRUCT ai con 6 campi tipizzati (is_defect_report BOOL, category STRING, severity INT64, affected_component STRING, failure_mode STRING, root_cause_hypothesis STRING) più il campo di stato ai.status (STRING).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SINTASSI ANTI-JOIN E PROCEDURA DI RETRY: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LEFT JOIN product_reviews r LEFT JOIN review_insights i USING (review_id) WHERE i.review_id IS NULL: pattern standard per filtrare in ingresso solo le righe nuove.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Blocco procedurale REPEAT ... UNTIL: cancella le righe andate in errore temporaneo (DELETE FROM review_insights WHERE ai_status LIKE '%retryable error%') e ripete la INSERT incrementale finché non restano fallimenti.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slide_1791733506613919072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slide_179173350661391907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03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Spiegare bene il comportamento di BigQuery AI sugli errori per-riga: se su 1000 righe 5 ricevono Resource Exhausted (429), la query NON fallisce ma popola il campo .status di quelle 5 righe con il messaggio di errore e mette i campi estratti a NULL.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Per questo salviamo ai.status nella colonna ai_status e usiamo REPEAT ... DELETE ... INSERT finché non restano 0 errori.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slide_179173350661404264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slide_179173350661404264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04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Questo è il cuore investigativo del workshop: partire dal sintomo testuale del cliente per capire se il guasto nasce dal fornitore del componente o da un macchinario di assemblaggio in fabbrica.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slide_1791733506614174398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slide_1791733506614174398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04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Domanda frequente degli studenti: 'Qual è la Primary Key di batch_components?' Risposta: è una tabella di appoggio associativa M:N la cui chiave primaria è la chiave composta (batch_id, lot_id), dove ciascun attributo è anche Foreign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Senza il predicato semantico i.affected_component = cl.component_type, una recensione sul termostato nel batch B-2025-01 verrebbe associata anche al coperchio, alla guarnizione e al cavo di quello stesso batch!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slide_1791733506614204376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slide_1791733506614204376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04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PARAMETRI E AGGREGAZIONI CONDIZIONALI: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COUNT(DISTINCT CASE WHEN i.is_defect_report AND i.affected_component = cl.component_type THEN r.review_id END): conteggio INT64 dei soli reclami pertinenti al componente del lotto.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SAFE_DIVIDE(defect_reviews, total_reviews_for_lot): rapporto matematico FLOAT64 protetto da divisioni per zero, formattato con ROUND(..., 2) come defect_rate.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CHIAVI DI JOIN E LIVELLI DI AGGREGAZIONE: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La prima query raggruppa con GROUP BY 1, 2, 3, 4 per calcolare la vista v_component_lot_defect_rates a livello di singolo lot_id.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La seconda query esegue una join con machines m USING (machine_id) e calcola il roll-up aggregato per macchinario d'assemblaggio.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slide_1791733506614248753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slide_1791733506614248753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04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Far notare come l'output dell'LLM (affected_component) diventi a tutti gli effetti una chiave di join relazionale.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slide_1791733506614302966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slide_1791733506614302966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05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Regola d'oro: non chiedere mai a un LLM di fare conteggi o divisioni su decine di righe grezze. Fai calcolare i numeri esatti a BigQuery SQL e passa a Gemini solo la tabella riassuntiva.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slide_1791733506614350678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slide_1791733506614350678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05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Il diagramma mostra il join 1:N su machine_id tra machines e v_component_lot_defect_rates.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Pattern anti-allucinazione: STRING_AGG comprime le N righe calcolate dal DB in 1 singolo scalare prima di invocare AI.GENERATE, separando il calcolo deterministico dalla sintesi verbale.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slide_1791733506614378983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slide_1791733506614378983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05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SERIALIZZAZIONE E COMPRESSIONE IN SQL: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FORMAT('Lot %s (%s, %s): installed by %s on %s...', ...): serializza 8 colonne eterogenee (%s stringa, %t data, %d intero, %.0f%% percentuale) in un'unica riga testuale coerente.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STRING_AGG(..., '\n' ORDER BY defect_rate DESC, total_defects DESC): funzione di aggregazione che comprime N righe in un unico scalare STRING (finding_lines).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PARAMETRI DI AI.GENERATE: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Input: tupla contenente l'istruzione direzionale del prompt e il blocco testuale t.finding_lines, connection_id =&gt; 'us.vertex-ai-conn', endpoint =&gt; 'gemini-2.5-flash'.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Output: STRUCT con campo .result di tipo STRING contenente l'executive briefing generato.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slide_179173350661443732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slide_179173350661443732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05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Confrontare questo approccio (STRING_AGG manuale + AI.GENERATE) con AI.AGG che vedremo nel Modulo 07.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slide_1791733506614483067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slide_1791733506614483067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06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Mostrare il problema di scalabilità dell'analista umano quando i fattori della supply chain sono decine.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L'obiettivo di business è isolare automaticamente e in modo statisticamente rigoroso quali combinazioni di fornitori, macchinari e lotti generano un aumento anomalo del tasso di difettosità.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slide_179173350661452578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slide_179173350661452578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06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Tutte le relazioni nel diagramma usano le chiavi fisiche (review_id, sku, batch_id, lot_id) con PK composta su batch_components.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Funzionamento: l'intera join denormalizzata a 5 tabelle viene passata dentro TABLE(...) a AI.KEY_DRIVERS, che calcola automaticamente combinazioni di fattori e Lift statistico rispetto al target.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slide_1791733506614552092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slide_1791733506614552092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06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SINTASSI DELLA TABLE-VALUED FUNCTION (TVF):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FROM AI.KEY_DRIVERS(TABLE(subquery), is_implicated_defect): accetta una subquery denormalizzata incapsulata nel costruttore TABLE(...) e il nome della colonna target booleana.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La subquery deve includere sia le dimensioni categoriche (STRING) sia la colonna target booleana (BOOL).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SCHEMA DI OUTPUT DELLA TVF: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key_driver: ARRAY&lt;STRING&gt; contenente le combinazioni di attributi (es. ['component_type=heating_element', 'installed_by_machine_id=CAL-02']).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true_count, total_count: INT64 con frequenze osservate.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lift, odds_ratio, unexpected_True_ratio, impact_score: FLOAT64 con metriche di significatività statistica e impatto sul totale.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slide_1791733506614595582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slide_1791733506614595582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06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Spiegare che AI.KEY_DRIVERS non usa un LLM generativo (non richiede connection_id Vertex AI!), ma il motore statistico di Contribution Analysis integrato in BigQuery.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slide_1791733506614641358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slide_1791733506614641358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07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L'obiettivo di business è sintetizzare grandi volumi di reclami testuali a livello di singolo prodotto (SKU).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Vogliamo produrre un riepilogo qualitativo azionabile per il team di ingegneria di prodotto senza dover leggere manualmente centinaia di recensioni per ciascun modello.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slide_1791733506614686028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slide_1791733506614686028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07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Il diagramma E/R mostra le 3 tabelle fisiche coinvolte con le rispettive chiavi (1:1 review_id e 1:N sku).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Funzionamento di AI.AGG: opera direttamente sul raggruppamento GROUP BY p.sku riducendo N recensioni in 1 sintesi testuale per ciascun prodotto.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slide_1791733506614710493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slide_179173350661471049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07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PARAMETRI POSIZIONALI E NOMINALI DI AI.AGG: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Argomento 1 (posizionale): espressione riga-per-riga da aggregare, in questo caso una tupla con batch_id, affected_component e review_text.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instructions =&gt; '...': parametro nominale obbligatorio che definisce il task di sintesi applicato una sola volta per l'intero gruppo.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connection_id, endpoint: parametri di connessione Vertex AI e modello ('gemini-2.5-flash').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TIPO DI RITORNO E CLAUSOLA GROUP BY: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AI.AGG è una funzione aggregata SQL nativa: restituisce direttamente uno scalare STRING per gruppo (non usa .result!).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Si combina nella stessa SELECT con funzioni di aggregazione tradizionali come COUNT(*) (INT64) e AVG(i.severity) (FLOAT64) sotto GROUP BY p.sku, p.product_name.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slide_1791733506614757168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slide_1791733506614757168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07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Sottolineare il vantaggio del parametro instructions =&gt; '...' rispetto a concatenare il prompt in ogni riga.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slide_1791733506614809233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slide_1791733506614809233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08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Mostrare come collegare due mondi che usano lessici diversi: il linguaggio ingegneristico interno (TSB) e il linguaggio colloquiale del consumatore.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slide_1791733506614859382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slide_1791733506614859382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08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La relazione fisica tra engineering_bulletins e product_reviews avviene su target_sku = sku (1:N).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Sopra la pre-condizione relazionale equijoin (target_sku = sku AND rating &lt;= 2) applichiamo la correlazione semantica: AI.IF logica causa-effetto in Query 7c e AI.SIMILARITY con embedding in Query 7d.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slide_1791733506614884795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slide_1791733506614884795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08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PARAMETRI E SINTASSI QUERY 7c (SEMANTIC JOIN CON AI.IF):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Input: tupla (r.review_text, b.technical_description), connection_id, optimization_mode =&gt; 'MINIMIZE_COST'.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Output: valore BOOL valutato dinamicamente nella clausola ON della INNER JOIN insieme al pre-filtro equijoin b.target_sku = r.sku.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PARAMETRI E SINTASSI QUERY 7d (RICERCA CON AI.SIMILARITY):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Input: due stringhe posizionali (query testuale e colonna r.review_text), connection_id, endpoint =&gt; 'text-embedding-005'.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Output: scalare FLOAT64 (-1.0..1.0) rappresentante la similarità coseno, pronto per ORDER BY semantic_similarity DESC LIMIT 10.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slide_1791733506614921447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slide_1791733506614921447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08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Avvertire sempre gli studenti sul costo computazionale di una JOIN semantica pura: senza b.target_sku = r.sku e r.rating &lt;= 2, BigQuery dovrebbe valutare M × N coppie con l'LLM!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slide_1791733506614964277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slide_1791733506614964277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09 (OBIETTIVO DI BUSINESS):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Chiudiamo il workshop mostrando come monitorare l'evoluzione nel tempo dei difetti e prevedere i volumi futuri con TimesFM 2.5.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slide_1791733506615008996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slide_1791733506615008996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09 (DIAGRAMMA E/R):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Il diagramma mostra la join 1:1 su review_id tra product_reviews e review_insights e la proiezione SELECT verso la serie storica.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Le 3 TVF zero-shot di TimesFM 2.5: AI.DETECT_ANOMALIES (confronto storico vs target), AI.FORECAST multivariato (previsione congiunta volumi e gravità) e AI.EVALUATE (metriche MAE, RMSE, sMAPE).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slide_1791733506615034544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slide_1791733506615034544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09 (LISTATO SQL):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PARAMETRI DI AI.DETECT_ANOMALIES (7e):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Input: due TABLE() (serie storica di riferimento e finestra target da ispezionare), data_col =&gt; 'defect_count', timestamp_col =&gt; 'review_date', model =&gt; 'TimesFM 2.5' e anomaly_prob_threshold =&gt; 0.90.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Output: tabella contenente la colonna booleana is_anomaly (BOOL) e i limiti di confidenza inferiore e superiore.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PARAMETRI DI AI.FORECAST (7f) E AI.EVALUATE (7g):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AI.FORECAST: prende TABLE(storico), timestamp_col, target_cols multivariati ['defect_count', 'avg_severity'], past_covariate_cols ['total_reviews'] e horizon =&gt; 7. Restituisce le stime puntuali per i 7 giorni successivi.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AI.EVALUATE: confronta due TABLE() (storico e valori effettivi) e produce 1 riga con le metriche di errore MAE, RMSE e sMAPE (FLOAT64).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slide_1791733506615078871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slide_1791733506615078871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PER IL DOCENTE — MODULO 09 (PARTICOLARITÀ TECNICHE):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Sottolineare che nessuna di queste 3 funzioni richiede CREATE MODEL né connection_id: TimesFM 2.5 è gestito nativamente da BigQuery.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286000" y="0"/>
            <a:ext cx="22860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4572000" y="0"/>
            <a:ext cx="22860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858000" y="0"/>
            <a:ext cx="22860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457200" y="304800"/>
            <a:ext cx="5588100" cy="2793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WORKSHOP GOOGLE CLOUD APPLIED AI • LAB II (PRODUCT_ANALYTICS)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200" y="6985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NovaHome — Analisi Intelligente delle Recensioni</a:t>
            </a:r>
            <a:endParaRPr b="1" sz="27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57200" y="13462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Dal Testo Non Strutturato alla Causa Radice di Fabbrica con BigQuery AI</a:t>
            </a:r>
            <a:endParaRPr b="1" sz="13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9 Moduli Didattici × 4 Pagine: Obiettivo di Business • Diagramma E/R • Listato SQL • Particolarità Tecniche</a:t>
            </a:r>
            <a:endParaRPr sz="13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57200" y="2159000"/>
            <a:ext cx="403860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BLU — Dati Grezzi &amp; Funzioni BigQuery AI</a:t>
            </a:r>
            <a:endParaRPr b="1" sz="105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product_reviews • AI.IF, AI.CLASSIFY, AI.SCORE, AI.GENERATE, AI.AGG, AI.FORECAST</a:t>
            </a:r>
            <a:endParaRPr b="1" sz="105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648200" y="2159000"/>
            <a:ext cx="4038600" cy="9144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VERDE — Tabelle Arricchite AI &amp; Schema Tipizzato</a:t>
            </a:r>
            <a:endParaRPr b="1" sz="105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review_insights • output_schema • MINIMIZE_COST • TimesFM 2.5</a:t>
            </a:r>
            <a:endParaRPr b="1" sz="105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57200" y="3238500"/>
            <a:ext cx="4038600" cy="9144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GIALLO — Grafo Supply Chain (BOM) &amp; Join SQL</a:t>
            </a:r>
            <a:endParaRPr b="1" sz="105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products, batches, batch_components, component_lots • LEFT JOIN, GROUP BY</a:t>
            </a:r>
            <a:endParaRPr b="1" sz="105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648200" y="3238500"/>
            <a:ext cx="403860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ROSSO — Causa Radice Fisica &amp; Resilienza</a:t>
            </a:r>
            <a:endParaRPr b="1" sz="105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machines (CAL-02) • Lotto HE-4471 (77%) • Ciclo REPEAT/UNTIL 429</a:t>
            </a:r>
            <a:endParaRPr b="1" sz="105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57200" y="47752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Google Cloud • NovaHome — Analisi Intelligente delle Recensioni (product_analytics)                                   Slide 1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ARCHITETTURA DATI GLOBALE • DATASET mfg_quality_demo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sql/01_setup_dataset_and_data.sql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Mappa E/R Completa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Mappa E/R Completa                                                                 Slide 2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901" y="990600"/>
            <a:ext cx="7298199" cy="355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01 • OBIETTIVO DI BUSINESS • TRIAGE OTTIMIZZATO PER I COSTI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Separare i veri difetti fisici dal rumore delle recensioni contenendo i costi operativi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01: Triage Ottimizzato per i Costi                                                                 Slide 3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Rumore nelle Recensioni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65% delle recensioni riguarda spedizioni, gusti personali o giudizi a 5 stelle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Leggere e classificare manualmente ogni singolo testo non scala su migliaia di reclami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team Qualità ha bisogno di una prima scrematura rapida ed economica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Tre Segnali per Ogni Reclamo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La recensione segnala un vero difetto fisico/sicurezza o un reclamo commerciale?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 quale categoria di guasto rientra il problema (termico, elettrico, meccanico, estetico)?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 è il livello di gravità percepito dal cliente su una scala da 1 a 5?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Triage Rapido e Sostenibile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Isolare immediatamente i reclami reali di guasto o sicurezza dal resto del catalogo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Classificare e pesare ogni segnalazione mantenendo minimo il costo unitario di analisi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Fornire al team Qualità una vista esplorativa immediata sui prodotti più critici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Separare Difetti Reali e Rumore  •  Tassonomia a 5 Categorie  •  Stima Urgenza 1–5 a Costo Minimo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01 • DIAGRAMMA E/R • TRIAGE OTTIMIZZATO PER I COSTI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Scansione su singola tabella di recensioni grezze con arricchimento AI al volo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01: Triage Ottimizzato per i Costi                                                                 Slide 4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00" y="1719716"/>
            <a:ext cx="8483601" cy="2096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01 • LISTATO SQL SINTETICO • TRIAGE OTTIMIZZATO PER I COSTI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2a — Triage booleano, classificazione e urgenza intera in un'unica SELECT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01: Triage Ottimizzato per i Costi                                                                 Slide 5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r.review_id, r.sku, r.rating,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AI.IF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(('Defect or safety issue: ', r.review_text),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optimization_mode =&gt; '</a:t>
            </a:r>
            <a:r>
              <a:rPr b="1" lang="en" sz="1000">
                <a:solidFill>
                  <a:srgbClr val="137333"/>
                </a:solidFill>
                <a:latin typeface="Roboto Mono"/>
                <a:ea typeface="Roboto Mono"/>
                <a:cs typeface="Roboto Mono"/>
                <a:sym typeface="Roboto Mono"/>
              </a:rPr>
              <a:t>MINIMIZE_COST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') AS is_defect,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AI.CLASSIFY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(r.review_text,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categories =&gt; ['thermal_safety', 'electrical_failure',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'mechanical_defect', 'cosmetic_issue', 'not_a_defect'],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optimization_mode =&gt; '</a:t>
            </a:r>
            <a:r>
              <a:rPr b="1" lang="en" sz="1000">
                <a:solidFill>
                  <a:srgbClr val="137333"/>
                </a:solidFill>
                <a:latin typeface="Roboto Mono"/>
                <a:ea typeface="Roboto Mono"/>
                <a:cs typeface="Roboto Mono"/>
                <a:sym typeface="Roboto Mono"/>
              </a:rPr>
              <a:t>MINIMIZE_COST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') AS category,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AI.GENERATE_INT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(('Rate urgency 1..5: ', r.review_text),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endpoint =&gt; '</a:t>
            </a:r>
            <a:r>
              <a:rPr b="1" lang="en" sz="1000">
                <a:solidFill>
                  <a:srgbClr val="137333"/>
                </a:solidFill>
                <a:latin typeface="Roboto Mono"/>
                <a:ea typeface="Roboto Mono"/>
                <a:cs typeface="Roboto Mono"/>
                <a:sym typeface="Roboto Mono"/>
              </a:rPr>
              <a:t>gemini-2.5-flash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').</a:t>
            </a:r>
            <a:r>
              <a:rPr b="1" lang="en" sz="1000">
                <a:solidFill>
                  <a:srgbClr val="137333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AS urgency_1_to_5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`mfg_quality_demo.product_reviews` r;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🔵 AI.IF(prompt, ...) ➔ BOOL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tupla (istruzione, review_text), connection_id, optimization_mode. Out: scalare BOOL diretto (is_defect).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🟢 AI.CLASSIFY(input, categories =&gt; [...]) ➔ STRING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review_text, array categories (5 stringhe), connection_id, optimization_mode. Out: scalare STRING (category).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🟡 AI.GENERATE_INT(prompt, endpoint =&gt; ...) ➔ STRUCT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tupla prompt, connection_id, endpoint. Out: STRUCT con campo .result tipizzato INT64 (urgency_1_to_5).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01 • PARTICOLARITÀ TECNICHE • TRIAGE OTTIMIZZATO PER I COSTI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Funzioni AI specializzate e distillazione automatica del modello riducono il TCO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01: Triage Ottimizzato per i Costi                                                                 Slide 6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FUNZIONI AI SPECIALIZZATE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Tipi SQL Forti per Ogni Task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AI.IF restituisce direttamente un BOOL nativo (niente parsing di 'yes'/'true')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AI.CLASSIFY vincola l'output esattamente alle 5 stringhe dell'array categories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AI.GENERATE_INT restituisce una STRUCT con .result tipizzato INT64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OTTIMIZZAZIONE DEI COSTI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optimization_mode = MINIMIZE_COST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Supportata sia da AI.IF sia da AI.CLASSIFY per carichi ad alto volume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Usa un modello teacher Gemini su un campione e distilla un modello student leggero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AI.GENERATE_INT non usa distillazione: invoca direttamente il modello Flash specificato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TRADE-OFF ARCHITETTURALE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Esplorazione vs Produzione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Nel Modulo 03 vedremo come comprimerle in 1 sola chiamata con AI.GENERATE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AI.IF + AI.CLASSIFY + AI.GENERATE_INT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02 • OBIETTIVO DI BUSINESS • CLASSIFICA SEMANTICA DEL RISCHIO FISICO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Ordinare le recensioni negative per pericolo fisico reale anziché solo per numero di stelle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02: Classifica Semantica del Rischio Fisico                                                                 Slide 7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Tutte le review con 1 stella sembrano uguali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 graffio estetico e un cavo che prende fuoco possono avere entrambi 1 stella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semplice voto numerico non distingue un cliente insoddisfatto da un pericolo d'incendio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team Safety deve ispezionare per primi i casi di fumo, scintille o ustioni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Misurare il Pericolo Reale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Quanto è grave il pericolo fisico descritto nel testo libero su una scala da 0 a 100?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Come evitare i pareggi (ex-aequo) tipici di una scala discreta 1..5 quando stabiliamo le priorità?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Quali sono le 15 segnalazioni più pericolose dell'intero catalogo da gestire subito?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Coda di Priorità per il Team Safety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Portare automaticamente in cima alla lista i reclami che descrivono rischi termici o elettrici gravi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Separare le vere emergenze di sicurezza dai reclami a 1–2 stelle legati a ritardi di consegna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Fornire una coda di ispezione immediata e ordinata per gravità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Punteggio Continuo di Rischio Fisico (0–100)  •  Zero Ex-Aequo in Classifica  •  Coda Top-15 Emergenze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02 • DIAGRAMMA E/R • CLASSIFICA SEMANTICA DEL RISCHIO FISICO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Punteggio di rischio con AI.SCORE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02: Classifica Semantica del Rischio Fisico                                                                 Slide 8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00" y="1793133"/>
            <a:ext cx="8483601" cy="1952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02 • LISTATO SQL SINTETICO • CLASSIFICA SEMANTICA DEL RISCHIO FISICO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2b — Classifica delle 15 segnalazioni a maggior rischio fisico con AI.SCORE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02: Classifica Semantica del Rischio Fisico                                                                 Slide 9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r.review_id, r.sku, r.batch_id, r.rating,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AI.SCORE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('Urgency of physical safety hazard such as fire, smoke, 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'melting plastic, electric shock, or burn risk: 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r.review_text),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connection_id =&gt; 'us.vertex-ai-conn'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) AS safety_hazard_score,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r.review_text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`mfg_quality_demo.product_reviews` r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r.rating &lt;= 2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ORDER BY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safety_hazard_score DESC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LIMIT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15;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🔵 AI.SCORE(prompt, connection_id =&gt; ...) ➔ FLOAT64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tupla (criterio di scoring, review_text) e connection_id. Out: scalare FLOAT64 diretto (0–100, senza .result).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🟡 WHERE r.rating &lt;= 2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predicato booleano sulla colonna INT64 rating applicato in ingresso sulla tabella product_reviews.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🔴 ORDER BY safety_hazard_score DESC LIMIT 15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alias scalare FLOAT64 calcolato nella SELECT. Out: prime 15 righe ordinate per punteggio decrescente.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02 • PARTICOLARITÀ TECNICHE • CLASSIFICA SEMANTICA DEL RISCHIO FISICO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sql/02_quick_triage.sql (Query 2b)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Combinare il filtro relazionale SQL con lo scoring continuo gestito dall'LLM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02: Classifica Semantica del Rischio Fisico                                                                 Slide 10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PERCHÉ NON AI.GENERATE_INT?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AI.SCORE vs AI.GENERATE_INT in ORDER BY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Entrambe possono andare in ORDER BY, ma una scala intera 1..5 crea troppi ex-aequo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AI.SCORE genera automaticamente una rubrica di valutazione coerente sul criterio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Restituisce direttamente un FLOAT64 continuo (0–100) ideale per classifiche Top-K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OTTIMIZZAZIONE SQL + AI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Filtro Preventivo (WHERE &lt;= 2)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motore SQL applica prima WHERE r.rating &lt;= 2 a costo zero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AI.SCORE viene invocata solo sulle recensioni critiche (1 o 2 stelle)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Combinare filtri relazionali e funzioni AI dimezza latenza e token consumati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ESPRESSIONI SQL STANDARD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Coda di Priorità Safety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Lo scalare FLOAT64 di AI.SCORE viene ordinato con ORDER BY safety_hazard_score DESC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Permette di creare viste di allerta per i team di Sicurezza Prodotto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Rivela subito che i casi più gravi si concentrano sui lotti B-2025-01, 02 e 05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AI.SCORE in ORDER BY per Prioritizzazione del Rischio Fisico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03 • OBIETTIVO DI BUSINESS • PIPELINE DI ARRICCHIMENTO INCREMENTALE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sql/03_async_enrichment_pipeline.sql (Query 3a)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Costruire un patrimonio informativo strutturato e continuo dalle recensioni in arrivo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03: Pipeline di Arricchimento Incrementale                                                                 Slide 11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Analisi Ripetitive e Costose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Rianalizzare da zero l'intero storico recensioni a ogni report moltiplica tempi e costi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Ogni giorno arrivano nuove recensioni che devono essere integrate senza fermare i sistemi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Eventuali picchi di traffico o rallentamenti temporanei non devono far perdere dati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Dal Testo Libero al Dato Strutturato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Quali informazioni chiave (sentiment, difetto, categoria, componente, gravità, sintesi) servono per ogni recensione?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Come processare esclusivamente le recensioni nuove arrivate dall'ultimo aggiornamento?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Come garantire che eventuali errori temporanei vengano recuperati automaticamente?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Scheda Tecnica per Ogni Recensione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Trasformare ogni recensione testuale in una scheda strutturata pronta per i report aziendali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Individuare dal racconto del cliente quale specifico componente fisico ha ceduto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Disporre di un processo affidabile e aggiornabile continuamente sui nuovi arrivi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Estrazione Multi-Attributo Standardizzata  •  Elaborazione Solo dei Nuovi Arrivi  •  Continuità Operativa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03 • DIAGRAMMA E/R • PIPELINE DI ARRICCHIMENTO INCREMENTALE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sql/03_async_enrichment_pipeline.sql (Query 3a)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Left Anti-Join incrementale dalle recensioni grezze alla tabella review_insights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03: Pipeline di Arricchimento Incrementale                                                                 Slide 12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00" y="1864645"/>
            <a:ext cx="8483601" cy="180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03 • LISTATO SQL SINTETICO • PIPELINE DI ARRICCHIMENTO INCREMENTALE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sql/03_async_enrichment_pipeline.sql (Query 3a)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3a — Stored Procedure incrementale con output_schema e recupero errori 429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03: Pipeline di Arricchimento Incrementale                                                                 Slide 13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CREATE OR REPLACE PROCEDURE `mfg_quality_demo.enrich_new_reviews`()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BEGIN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REPEAT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DELETE FROM `mfg_quality_demo.review_insights`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WHERE ai_status LIKE '%A retryable error occurred%';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INSERT INTO `mfg_quality_demo.review_insights`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SELECT review_id, ai.sentiment, ai.is_defect_report,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ai.defect_category, ai.affected_component,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ai.severity, ai.summary, ai.status, CURRENT_TIMESTAMP()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FROM 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SELECT r.review_id, AI.GENERATE(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('Analyze ', p.product_name, ': ', r.review_text),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endpoint =&gt; 'gemini-2.5-flash',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output_schema =&gt; 'sentiment STRING, is_defect_report BOOL,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  defect_category STRING, affected_component STRING,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  severity INT64, summary STRING') AS ai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FROM `mfg_quality_demo.product_reviews` r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JOIN `mfg_quality_demo.products` p USING (sku)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LEFT JOIN `mfg_quality_demo.review_insights` i USING (review_id)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WHERE i.review_id IS NULL);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UNTIL (SELECT COUNT(*) FROM `mfg_quality_demo.review_insights`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 WHERE ai_status LIKE '%retryable error%') = 0 END REPEAT;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END;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🟢 AI.GENERATE(..., output_schema =&gt; '...') ➔ STRUCT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tupla prompt, connection_id, endpoint, output_schema DDL. Out: STRUCT ai con 6 campi tipizzati + ai.status (STRING).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🟡 LEFT JOIN ... USING (review_id) WHERE i.review_id IS NULL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chiave review_id tra product_reviews (r) e review_insights (i). Out: sole righe di r con i.review_id NULL.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🔴 REPEAT ... DELETE ... INSERT ... UNTIL count = 0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blocco procedurale SQL con DELETE su ai_status LIKE '%retryable error%' e condizione scalare booleana UNTIL.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03 • PARTICOLARITÀ TECNICHE • PIPELINE DI ARRICCHIMENTO INCREMENTALE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sql/03_async_enrichment_pipeline.sql (Query 3a)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Tre pattern di ingegneria di produzione in un'unica Stored Procedure BigQuery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03: Pipeline di Arricchimento Incrementale                                                                 Slide 14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OUTPUT STRUTTURATO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output_schema Multi-Campo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Un'unica chiamata AI.GENERATE restituisce una STRUCT SQL con 6 campi tipizzati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Più veloce ed economico rispetto a 6 funzioni AI separate sulla stessa riga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Vincola affected_component al vocabolario esatto della distinta base (BOM)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ANTI-JOIN INCREMENTALE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LEFT JOIN ... WHERE IS NULL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Confronta product_reviews con review_insights sulla chiave primaria review_id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Invia a Vertex AI esclusivamente le recensioni non ancora presenti a sistema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Rende la procedura enrich_new_reviews() idempotente e sicura da schedulare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RESILIENZA ALLE QUOTE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Ciclo REPEAT + Filtro ai_status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AI.GENERATE non fa fallire l'intera query se una riga riceve HTTP 429: scrive l'errore in .status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ciclo REPEAT elimina le righe con ai_status LIKE '%retryable error%'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L'anti-join successiva riprocessa automaticamente solo le righe fallite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AI.GENERATE con Output Strutturato + Anti-Join Incrementale + Auto-Retry Quota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04 • OBIETTIVO DI BUSINESS • ANALISI DELLA CAUSA RADICE SULLA SUPPLY CHAIN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sql/04_root_cause_analysis.sql (Query 4a + 4b + 4c)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Risalire dai sintomi descritti dai clienti al lotto di componenti e al macchinario responsabile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04: Analisi della Causa Radice sulla Supply Chain                                                                 Slide 15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Cliente Non Conosce la Fabbrica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cliente descrive il sintomo ('non si spegne mai'), ma non sa quale componente interno sia guasto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Ogni lotto di prodotto finito assembla 5 componenti diversi provenienti da più fornitori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 richiamo generalizzato dell'intero catalogo costerebbe milioni e danneggerebbe il brand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Fornitore o Macchinario di Linea?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Quale specifico lotto di componenti registra la percentuale più alta di reclami sul campo?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difetto dipende dalla materia prima del fornitore o dal macchinario che lo ha installato?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Altri lotti dello stesso fornitore montati su linee diverse presentano lo stesso problema?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Richiamo Chirurgico e Verifica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Isolare con precisione il singolo lotto difettoso e i soli lotti di produzione impattati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Accertare con dati oggettivi se la responsabilità è del fornitore o di una macchina di stabilimento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Intervenire solo sulla linea e sui lotti coinvolti risparmiando milioni in richiami inutili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Tracciabilità Sintomo ➔ Componente ➔ Lotto ➔ Macchina  •  Verifica Responsabilità Fornitore vs Fabbrica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04 • DIAGRAMMA E/R • ANALISI DELLA CAUSA RADICE SULLA SUPPLY CHAIN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sql/04_root_cause_analysis.sql (Query 4a + 4b + 4c)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Attraversamento di 5 tabelle della supply chain guidato da affected_component = component_type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04: Analisi della Causa Radice sulla Supply Chain                                                                 Slide 16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40" y="1534160"/>
            <a:ext cx="8475520" cy="2467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04 • LISTATO SQL SINTETICO • ANALISI DELLA CAUSA RADICE SULLA SUPPLY CHAIN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sql/04_root_cause_analysis.sql (Query 4a + 4b + 4c)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4a &amp; 4b — Vista difettosità per lotto e risalita alla calibratrice CAL-02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04: Analisi della Causa Radice sulla Supply Chain                                                                 Slide 17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CREATE OR REPLACE VIEW `mfg_quality_demo.v_component_lot_defect_rates` AS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cl.lot_id, cl.component_type, cl.supplier, cl.installed_by_machine_id,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COUNT(DISTINCT r.review_id) AS total_reviews_for_lot,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COUNT(DISTINCT CASE WHEN i.is_defect_report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AND i.affected_component = cl.component_type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THEN r.review_id END) AS defect_reviews,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ROUND(SAFE_DIVIDE(COUNT(DISTINCT CASE WHEN i.is_defect_report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AND i.affected_component = cl.component_type THEN r.review_id END),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COUNT(DISTINCT r.review_id)), 2) AS implication_rate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`mfg_quality_demo.component_lots` cl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JOIN `mfg_quality_demo.batch_components` bc USING (lot_id)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JOIN `mfg_quality_demo.product_reviews` r   USING (batch_id)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JOIN `mfg_quality_demo.review_insights` i   USING (review_id)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GROUP BY 1, 2, 3, 4;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-- 4b. Roll-up per Macchina di Fabbrica: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m.machine_id, m.last_maintenance_date,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SUM(v.defect_reviews) AS defects, ROUND(AVG(v.implication_rate), 2) AS rate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`mfg_quality_demo.v_component_lot_defect_rates` v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JOIN `mfg_quality_demo.machines` m ON m.machine_id = v.installed_by_machine_id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GROUP BY 1, 2 ORDER BY defects DESC;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🟢 COUNT(DISTINCT CASE WHEN ... THEN r.review_id END)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predicato i.is_defect_report AND i.affected_component = cl.component_type. Out: conteggio INT64 (defect_reviews).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🟡 SAFE_DIVIDE(numeratore, denominatore) ➔ FLOAT64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defect_reviews (INT64) e total_reviews_for_lot (INT64). Out: rapporto FLOAT64 arrotondato con ROUND(..., 2).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🔴 JOIN ... USING (lot_id, batch_id, review_id)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chiavi di join tra le 4 tabelle e GROUP BY 1, 2, 3, 4. Out: vista per lot_id e query di roll-up su machine_id.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04 • PARTICOLARITÀ TECNICHE • ANALISI DELLA CAUSA RADICE SULLA SUPPLY CHAIN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sql/04_root_cause_analysis.sql (Query 4a + 4b + 4c)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Perché il predicato ibrido semantico-relazionale è il fulcro dell'intera architettura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04: Analisi della Causa Radice sulla Supply Chain                                                                 Slide 18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PREDICATO CHIAVE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Disambiguare la Distinta Base M:N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 batch (es. B-2025-01) contiene 5 componenti: resistenza, sensore, coperchio, guarnizione, cavo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La JOIN tradizionale su batch_id assocerebbe il reclamo termico anche al coperchio!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filtro i.affected_component = cl.component_type isola solo il componente citato dal cliente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TASSO DI IMPLICAZIONE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COUNT(DISTINCT CASE WHEN ...)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Denominatore: tutte le recensioni dei batch che montano quel lot_id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Numeratore: solo le recensioni difettose in cui l'AI ha indicato quel component_type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HE-4471 raggiunge 17 / 22 = 77.3% con severità media 4.5 / 5.0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VERIFICA INCROCIATA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Scagionare il Fornitore ThermoCore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Query 4b aggrega su machines: CAL-02 emerge con manutenzione ferma al 2025-01-17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Query 4c confronta tutti i heating_element: HE-4472 (stesso fornitore ThermoCore ma su CAL-01) è al 9%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Dimostra matematicamente che il problema è la taratura di CAL-02, non la materia prima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Join Relazionale Ibrida AI-Distinta Base: da Testo Libero a Lotto HE-4471 e Macchina CAL-02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05 • OBIETTIVO DI BUSINESS • PIANO D'AZIONE ESECUTIVO DA SQL A PROMPT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1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sql/05_executive_summary.sql (Query 5)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Sintetizzare le evidenze numeriche di fabbrica in un piano d'azione esecutivo per la direzione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1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05: Piano d'Azione Esecutivo da SQL a Prompt                                                                 Slide 19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Dai Dati Tecnici alla Decisione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La direzione operativa (VP of Manufacturing) non ha tempo di interpretare tabelle e metriche grezze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 riassunto generico scritto senza basi numeriche certificate rischia di contenere imprecisioni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 una crisi di qualità serve un documento decisionale immediato, sintetico e verificabile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1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Cosa Deve Decidere il Board Oggi?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 è la causa radice accertata e quali evidenze numeriche giustificano tale conclusione?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Quali azioni immediate vanno intraprese in fabbrica, in magazzino e verso i fornitori?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 è l'impatto stimato sui clienti finali e quali lotti vanno messi in quarantena?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Briefing Esecutivo Certificato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Produrre una nota direzionale di 250 parole ancorata al 100% alle metriche reali di fabbrica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Articolare chiaramente Causa Radice, Azioni Immediate e Impatto Clienti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Azzerare il rischio di cifre inventate o contraddittorie nel passaggio tra analisti e management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Comunicazione Direzionale in 3 Punti  •  100% Ancorata alle Metriche Certificate  •  Pronta per il Board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05 • DIAGRAMMA E/R • PIANO D'AZIONE ESECUTIVO DA SQL A PROMPT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sql/05_executive_summary.sql (Query 5)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0" name="Google Shape;300;p32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Compressione delle viste multi-riga in una CTE a riga singola tramite STRING_AGG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05: Piano d'Azione Esecutivo da SQL a Prompt                                                                 Slide 20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2" name="Google Shape;30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83" y="2305050"/>
            <a:ext cx="8462432" cy="9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05 • LISTATO SQL SINTETICO • PIANO D'AZIONE ESECUTIVO DA SQL A PROMPT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3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sql/05_executive_summary.sql (Query 5)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5 — Pre-aggregazione deterministica in CTE e generazione del Piano d'Azione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05: Piano d'Azione Esecutivo da SQL a Prompt                                                                 Slide 21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WITH top_lots AS (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SELECT STRING_AGG(FORMAT(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'Lot %s (%s, %s, machine=%s, maint=%t): %d/%d (%.0f%%)',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v.lot_id, v.component_type, v.supplier,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v.installed_by_machine_id, m.last_maintenance_date,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v.defect_reviews, v.total_reviews_for_lot,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v.implication_rate * 100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), '\n' ORDER BY v.defect_reviews DESC) AS finding_lines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FROM 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SELECT * FROM `mfg_quality_demo.v_component_lot_defect_rates`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ORDER BY defect_reviews DESC LIMIT 5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) v JOIN `mfg_quality_demo.machines` m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ON m.machine_id = v.installed_by_machine_id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AI.GENERATE(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('Write a 250-word executive briefing with: (1) Root Cause, 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'(2) Immediate Actions, (3) Customer Impact.\n', t.finding_lines),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endpoint =&gt; 'gemini-2.5-flash').result AS executive_briefing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top_lots t;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🟡 FORMAT('Lot %s ...', ...) ➔ STRING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stringa di formato (%s, %t, %d, %.0f%%) e 8 colonne tipizzate. Out: 1 valore STRING formattato per riga.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🔴 STRING_AGG(..., '\n' ORDER BY ...) ➔ STRING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espressione STRING per riga e separatore '\n'. Out: 1 sola riga con colonna finding_lines (STRING) nella CTE top_lots.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🔵 AI.GENERATE((prompt, t.finding_lines), ...).result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tupla (istruzione, finding_lines), connection_id, endpoint. Out: STRUCT con campo .result STRING (executive_briefing).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05 • PARTICOLARITÀ TECNICHE • PIANO D'AZIONE ESECUTIVO DA SQL A PROMPT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4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sql/05_executive_summary.sql (Query 5)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1" name="Google Shape;321;p34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pattern anti-allucinazione 'SQL-to-Prompt' per il reporting direzionale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05: Piano d'Azione Esecutivo da SQL a Prompt                                                                 Slide 22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SEPARAZIONE DEI COMPITI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SQL per la Matematica, LLM per la Sintesi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Gli LLM non devono mai calcolare aggregazioni o percentuali su decine di righe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motore SQL di BigQuery calcola in modo deterministico tassi, conteggi e date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L'LLM riceve solo l'evidenza già aggregata e certificata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4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4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COMPRESSIONE DEL CONTESTO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FORMAT + STRING_AGG(..., '\n')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FORMAT costruisce una riga testuale strutturata per ciascuno dei 5 lotti principali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STRING_AGG collassa le 5 righe in un unico scalare di testo (finding_lines)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Riduce l'input della query finale a 1 sola riga = 1 sola invocazione Gemini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4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4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PROMPT STRUTTURATO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Output Azionabile in 3 Sezioni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prompt richiede esplicitamente: (1) Causa Radice, (2) Azioni Immediate, (3) Impatto Clienti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Cita i numeri esatti (77% vs 9%) per giustificare lo scagionamento del fornitore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Pronto per essere inviato via email o mostrato in una dashboard Looker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4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Pre-Aggregazione Deterministica SQL + Sintesi AI.GENERATE in Singola Chiamata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06 • OBIETTIVO DI BUSINESS • SCOPERTA AUTOMATICA DELLE CAUSE RADICE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Individuare automaticamente quale combinazione di fattori spiega l'anomalia di qualità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06: Scoperta Automatica delle Cause Radice                                                                 Slide 23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5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E se Avessimo 50 Dimensioni?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 uno stabilimento reale esistono decine di variabili (turno, linea, fornitore, lotto, macchina, SKU...)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Verificare manualmente ogni singola ipotesi o incrocio richiede giorni di analisi per tentativi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Le cause radice più insidiose nascono spesso dall'interazione tra più fattori contemporaneamente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5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5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Quali Fattori Spingono i Difetti?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Quale attributo singolo o combinazione di attributi concentra un numero anomalo di difetti?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Quanto è più frequente il guasto in quel segmento rispetto alla media normale di fabbrica?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Quali combinazioni hanno il maggiore impatto complessivo sul totale dei reclami?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5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Diagnosi Multi-Fattore Istantanea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Esplorare in automatico tutte le combinazioni possibili della catena produttiva senza ipotesi a priori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Ordinare i fattori sospetti per rilevanza statistica e volume di difetti spiegati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Ridurre da giorni a pochi secondi il tempo necessario per isolare un'anomalia complessa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Esplorazione Automatica Multi-Dimensionale  •  Zero Ipotesi Manuali a Priori  •  Ranking per Impatto Reale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06 • DIAGRAMMA E/R • SCOPERTA AUTOMATICA DELLE CAUSE RADICE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1" name="Google Shape;351;p36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Join denormalizzata a 6 tabelle passata in input alla funzione tabellare AI.KEY_DRIVERS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6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06: Scoperta Automatica delle Cause Radice                                                                 Slide 24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3" name="Google Shape;3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653" y="990600"/>
            <a:ext cx="7216695" cy="35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06 • LISTATO SQL SINTETICO • SCOPERTA AUTOMATICA DELLE CAUSE RADICE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7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7a — Scoperta automatica dei fattori di difettosità con AI.KEY_DRIVERS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7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06: Scoperta Automatica delle Cause Radice                                                                 Slide 25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key_driver, true_count AS defect_matches, total_count,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ROUND(lift, 2) AS lift, ROUND(odds_ratio, 2) AS odds_ratio,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ROUND(unexpected_True_ratio, 2) AS unexpected_defect_ratio,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ROUND(impact_score, 2) AS impact_score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AI.KEY_DRIVERS(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TABLE(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SELECT p.sku, pb.production_line, cl.component_type,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cl.supplier, cl.installed_by_machine_id, cl.lot_id,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(i.is_defect_report AND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i.affected_component = cl.component_type) AS is_implicated_defect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FROM `mfg_quality_demo.review_insights` i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JOIN `mfg_quality_demo.product_reviews` r     USING (review_id)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JOIN `mfg_quality_demo.products` p            USING (sku)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JOIN `mfg_quality_demo.production_batches` pb USING (batch_id)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JOIN `mfg_quality_demo.batch_components` bc   USING (batch_id)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JOIN `mfg_quality_demo.component_lots` cl     USING (lot_id)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), is_implicated_defect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) ORDER BY impact_score DESC LIMIT 10;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3" name="Google Shape;363;p37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🔵 FROM AI.KEY_DRIVERS(TABLE(SELECT ...), target)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(Arg 1): TABLE(...) contenente 6 colonne dimensione (STRING) e 1 colonna target (BOOL). Sintassi TVF in FROM.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7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🟢 Arg 2: is_implicated_defect (BOOL)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(Arg 2): identificatore della colonna booleana nella TABLE di input rispetto a cui calcolare le metriche.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7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🔴 Colonne di Output della TVF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Out: key_driver (ARRAY&lt;STRING&gt;), true_count (INT64), total_count (INT64), lift, odds_ratio, unexpected_True_ratio, impact_score (FLOAT64).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06 • PARTICOLARITÀ TECNICHE • SCOPERTA AUTOMATICA DELLE CAUSE RADICE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8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7a)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2" name="Google Shape;372;p38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Come interpretare le metriche statistiche di contributo restituite da AI.KEY_DRIVERS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8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06: Scoperta Automatica delle Cause Radice                                                                 Slide 26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8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COME FUNZIONA AI.KEY_DRIVERS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Funzione Tabellare (TVF)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Prende in input una TABLE(SELECT ...) con le dimensioni candidate e un target booleano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Valuta sia i singoli attributi (es. sku='KTL-100') sia le intersezioni multi-attributo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Filtra il rumore statistico e restituisce solo i fattori significativi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8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8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METRICHE STATISTICHE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Lift, Odds Ratio e Impatto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lift: quanto è più probabile il difetto in quel segmento rispetto alla media globale (16x)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unexpected_True_ratio: quota di difetti 'in eccesso' spiegata da quel segmento (+69%)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impact_score: combina volume di difetti e lift per dare una priorità unica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8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8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CONFRONTO DIDATTICO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Modulo 04 vs Modulo 06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Modulo 04 (SQL classico): ottimo quando conosci già la gerarchia da verificare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Modulo 06 (AI.KEY_DRIVERS): imbattibile per scoprire cause radice al buio su decine di colonne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Entrambi convergono esattamente su HE-4471 + ThermoCore + CAL-02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8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AI.KEY_DRIVERS per l'Analisi Automatica Multi-Dimensionale dei Fattori Critici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07 • OBIETTIVO DI BUSINESS • AGGREGAZIONE SEMANTICA MULTI-RIGA NATIVA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9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7" name="Google Shape;387;p39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Fornire a ogni Product Manager un quadro sintetico di KPI e sintomi ricorrenti per prodotto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39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07: Aggregazione Semantica Multi-Riga Nativa                                                                 Slide 27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9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Un Report per Ogni Product Manager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Ogni Product Manager è responsabile di una specifica linea di prodotto (Bollitore, Frullatore, Friggitrice...)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 numeri da soli (# reclami, gravità media) dicono quanto è grande il problema, ma non cosa succede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Leggere centinaia di recensioni per capire i sintomi ricorrenti di ogni prodotto richiede troppo tempo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39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9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Numeri e Sintesi nella Stessa Vista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Quante segnalazioni di difetto e quale gravità media registra ciascun prodotto a catalogo?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Quali sono i sintomi ricorrenti e i lotti più citati dai clienti per quello specifico prodotto?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Quale verifica ingegneristica prioritaria emerge dai reclami di ciascuna linea?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39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9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Cruscotto Qualità per Prodotto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Affiancare in un'unica tabella gli indicatori quantitativi e il riassunto qualitativo dei guasti per prodotto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Distinguere subito i prodotti con veri problemi strutturali da quelli con sole segnalazioni estetiche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Offrire a ciascun responsabile di prodotto indicazioni operative immediate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39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Vista Unificata per Prodotto (SKU)  •  KPI Quantitativi + Sintesi Qualitativa dei Sintomi  •  Priorità per i PM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0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07 • DIAGRAMMA E/R • AGGREGAZIONE SEMANTICA MULTI-RIGA NATIVA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40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2" name="Google Shape;402;p40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Aggregazione semantica molti-a-uno sulle recensioni raggruppate per products.sku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07: Aggregazione Semantica Multi-Riga Nativa                                                                 Slide 28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4" name="Google Shape;4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75" y="1407160"/>
            <a:ext cx="8478249" cy="2722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1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07 • LISTATO SQL SINTETICO • AGGREGAZIONE SEMANTICA MULTI-RIGA NATIVA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1" name="Google Shape;411;p41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7b — Sintesi multi-riga per prodotto usando AI.AGG dentro GROUP BY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41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07: Aggregazione Semantica Multi-Riga Nativa                                                                 Slide 29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1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p.sku, p.product_name,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COUNT(*) AS defect_review_count,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ROUND(AVG(i.severity), 1) AS avg_severity,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AI.AGG(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('Batch ', r.batch_id, ' [', i.affected_component, ']: 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r.review_text),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instructions =&gt; 'Summarize recurring defect symptoms, '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|| 'affected batches, and engineering check in 2 bullets.',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endpoint =&gt; 'gemini-2.5-flash'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) AS product_defect_synthesis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`mfg_quality_demo.review_insights` i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JOIN `mfg_quality_demo.product_reviews` r USING (review_id)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JOIN `mfg_quality_demo.products` p        USING (sku)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WHERE i.is_defect_report = TRUE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GROUP BY p.sku, p.product_name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ORDER BY defect_review_count DESC;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4" name="Google Shape;414;p41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🔵 AI.AGG(valore_riga, ...) ➔ STRING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(Arg 1): tupla di colonne per riga (batch_id, affected_component, review_text). Out: scalare STRING diretto (senza .result).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🟢 instructions =&gt; '...'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(Parametri nominali): instructions (STRING), connection_id (STRING), endpoint (STRING).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41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🟡 GROUP BY p.sku, p.product_name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In: chiavi di raggruppamento SQL. Out: 1 riga per SKU con COUNT(*) (INT64), AVG(severity) (FLOAT64) e AI.AGG (STRING).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07 • PARTICOLARITÀ TECNICHE • AGGREGAZIONE SEMANTICA MULTI-RIGA NATIVA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7b)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3" name="Google Shape;423;p42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AI.GENERATE scalare vs AI.AGG aggregata: quando usare l'una o l'altra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42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07: Aggregazione Semantica Multi-Riga Nativa                                                                 Slide 30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42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2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FUNZIONE AGGREGATA NATIVA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AI.AGG vs AI.GENERATE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AI.GENERATE è una funzione scalare (1 riga in input ➔ 1 riga in output)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AI.AGG è una funzione di aggregazione (N righe di un gruppo ➔ 1 valore per gruppo)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Si scrive direttamente nella SELECT insieme a COUNT(*), AVG(), MAX() con GROUP BY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42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2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SCALABILITÀ GERARCHICA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Gestione Automatica del Contesto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Con STRING_AGG manuale, se un gruppo ha 50.000 recensioni la stringa esplode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AI.AGG gestisce nativamente l'aggregazione di grandi insiemi di righe per gruppo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Accetta una tupla con i campi di ogni riga (es. batch_id, affected_component, review_text)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42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2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SEPARAZIONE ISTRUZIONE / DATI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Parametro instructions =&gt; ...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primo argomento di AI.AGG contiene solo l'espressione riga-per-riga da aggregare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parametro nominale instructions =&gt; '...' definisce il task di sintesi a livello di gruppo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Evita di ripetere il testo del prompt per ogni singola riga del gruppo!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AI.AGG dentro GROUP BY per la Sintesi Automatica per Prodotto (SKU)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08 • OBIETTIVO DI BUSINESS • CORRELAZIONE SEMANTICA SENZA CHIAVI ESTERNE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3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7c + 7d)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8" name="Google Shape;438;p43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Collegare i bollettini tecnici dell'ingegneria con i reclami dei clienti scritti in linguaggio comune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43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08: Correlazione Semantica Senza Chiavi Esterne                                                                 Slide 31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43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3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Due Linguaggi che Non Si Parlano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team Engineering documenta i difetti noti in bollettini tecnici con terminologia specialistica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 clienti descrivono gli stessi guasti usando parole quotidiane basate su ciò che vedono o sentono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Non esiste alcun codice o riferimento comune che colleghi una recensione cliente a un bollettino tecnico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3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3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Collegare Sintomo Cliente e Nota Tecnica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Quante recensioni dei clienti corrispondono esattamente alla modalità di guasto descritta in un bollettino?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Quali altre segnalazioni nel catalogo descrivono un sintomo simile a un caso critico appena scoperto?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Quando serve verificare un nesso logico causa-effetto e quando basta cercare frasi simili?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43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3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Ponte tra Assistenza Clienti e R&amp;D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Misurare subito l'impatto sul campo di ciascun bollettino tecnico contando i reclami corrispondenti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Individuare rapidamente tutti i casi analoghi a una segnalazione critica descritta a parole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Unificare il patrimonio informativo dell'ingegneria con la voce del cliente senza codifiche manuali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3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Ponte tra Lessico Tecnico e Linguaggio Cliente  •  Impatto sul Campo dei Bollettini  •  Ricerca Casi Simili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08 • DIAGRAMMA E/R • CORRELAZIONE SEMANTICA SENZA CHIAVI ESTERNE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44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7c + 7d)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3" name="Google Shape;453;p44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Join semantica logica ON AI.IF(...) e ricerca vettoriale continua con AI.SIMILARITY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44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08: Correlazione Semantica Senza Chiavi Esterne                                                                 Slide 32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5" name="Google Shape;4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120" y="2230120"/>
            <a:ext cx="8475760" cy="10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5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08 • LISTATO SQL SINTETICO • CORRELAZIONE SEMANTICA SENZA CHIAVI ESTERNE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7c + 7d)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2" name="Google Shape;462;p45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7c &amp; 7d — Semantic JOIN con AI.IF e ricerca vettoriale con AI.SIMILARITY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08: Correlazione Semantica Senza Chiavi Esterne                                                                 Slide 33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45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-- 7c. Semantic </a:t>
            </a:r>
            <a:r>
              <a:rPr b="1" i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 tra Bollettini Tecnici (b) e Recensioni (r):</a:t>
            </a:r>
            <a:endParaRPr i="1"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b.bulletin_id, COUNT(r.review_id) AS matching_reviews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engineering_bulletins b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`mfg_quality_demo.product_reviews` r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b.target_sku = r.sku AND r.rating &lt;= 2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10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AI.IF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(('Review: ', r.review_text, ' matches bulletin: 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b.technical_description),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optimization_mode =&gt; '</a:t>
            </a:r>
            <a:r>
              <a:rPr b="1" lang="en" sz="1000">
                <a:solidFill>
                  <a:srgbClr val="137333"/>
                </a:solidFill>
                <a:latin typeface="Roboto Mono"/>
                <a:ea typeface="Roboto Mono"/>
                <a:cs typeface="Roboto Mono"/>
                <a:sym typeface="Roboto Mono"/>
              </a:rPr>
              <a:t>MINIMIZE_COST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') </a:t>
            </a: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GROUP BY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1;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-- 7d. Ricerca Semantica Continua con Embeddings:</a:t>
            </a:r>
            <a:endParaRPr i="1"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r.review_id, r.sku, r.batch_id,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ROUND(AI.SIMILARITY(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'kettle never stops boiling and smells like burnt plastic',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r.review_text, connection_id =&gt; 'us.vertex-ai-conn',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endpoint =&gt; 'text-embedding-005'), 3) AS semantic_similarity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FROM `mfg_quality_demo.product_reviews` r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ORDER BY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semantic_similarity DESC </a:t>
            </a: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LIMIT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10;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5" name="Google Shape;465;p45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🔵 JOIN ... ON ... AND AI.IF(prompt, ...) ➔ BOOL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(7c): tupla (r.review_text, b.technical_description), connection_id, optimization_mode. Out: BOOL nella clausola ON.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45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🟢 AI.SIMILARITY(content1, content2, ...) ➔ FLOAT64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(7d): 2 argomenti posizionali STRING (testo cercato, r.review_text), connection_id, endpoint =&gt; 'text-embedding-005'.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45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🟡 Output 7c (INT64) e 7d (FLOAT64)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Out (7c): COUNT(r.review_id) (INT64) per bulletin_id. Out (7d): scalare FLOAT64 diretto (-1.0..1.0) in ORDER BY.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6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08 • PARTICOLARITÀ TECNICHE • CORRELAZIONE SEMANTICA SENZA CHIAVI ESTERNE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6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7c + 7d)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4" name="Google Shape;474;p46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Scegliere tra verifica logica LLM (AI.IF) ed embedding vettoriali (AI.SIMILARITY)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46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08: Correlazione Semantica Senza Chiavi Esterne                                                                 Slide 34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46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6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7c: JOIN ON AI.IF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Join Relazionale + Semantica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Usa AI.IF direttamente dentro la clausola ON di una INNER JOIN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L'LLM ragiona sul rapporto causa-effetto (es. 'deriva a 108°C' = 'non si spegne quando bolle')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Fondamentale: aggiungere sempre un pre-filtro equijoin (b.target_sku = r.sku) per evitare O(N×M)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46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6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7d: AI.SIMILARITY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Embedding Istantanei (text-embedding-005)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Calcola al volo gli embedding dei due testi e restituisce la similarità coseno (-1..1)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Non richiede di creare una tabella di embedding né di gestire VECTOR_SEARCH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Molto più veloce ed economico di un LLM generativo per ricerche di vicinanza semantica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46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6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QUANDO USARE QUALE?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Regola Pratica per gli Studenti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Usa AI.SIMILARITY per trovare testi 'simili' o duplicati e ordinarli per punteggio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Usa JOIN ON AI.IF quando serve un criterio logico complesso ('A è causato da B')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Con optimization_mode =&gt; 'MINIMIZE_COST', AI.IF diventa sostenibile anche su join ampie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46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JOIN ON AI.IF (Correlazione Logica) &amp; AI.SIMILARITY (Ricerca Vettoriale)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MODULO 09 • OBIETTIVO DI BUSINESS • ANALISI ZERO-SHOT DELLE SERIE STORICHE</a:t>
            </a:r>
            <a:endParaRPr b="1" sz="10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47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7e + 7f + 7g)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9" name="Google Shape;489;p47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Rilevare tempestivamente i picchi anomali di difetti e prevedere il carico futuro di reclami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47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09: Analisi Zero-Shot delle Serie Storiche                                                                 Slide 35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7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IL PROBLEMA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Allerta Precoce &amp; Pianificazione Scorte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Un'impennata improvvisa di reclami dopo una spedizione deve far scattare subito un'allerta qualità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Il team Ricambi e il Customer Care devono sapere in anticipo quanti reclami arriveranno la prossima settimana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 team operativi non hanno il tempo di progettare e mantenere modelli statistici dedicati per ogni metrica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47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7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LE DOMANDE DI BUSINESS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Anomalie, Previsioni e Affidabilità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In quali giornate il numero di difetti segnalati ha superato in modo anomalo l'andamento storico normale?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Quanti difetti e di quale gravità media dobbiamo aspettarci nei prossimi 7 giorni?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Quanto sono affidabili e accurate queste previsioni se confrontate con i dati reali osservati?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7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7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OBIETTIVO ATTESO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Monitoraggio Proattivo della Qualità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Identificare automaticamente i giorni di picco anomalo non appena i difetti deviano dal trend atteso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Prevedere congiuntamente volume dei difetti e gravità media sulla settimana successiva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Misurare oggettivamente il margine di errore previsionale per pianificare scorte e assistenza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47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Punto Chiave: Rilevamento Automatico dei Picchi Anomali  •  Previsione Congiunta a 7 Giorni  •  Misura dell'Accuratezza</a:t>
            </a:r>
            <a:endParaRPr b="1" sz="1100">
              <a:solidFill>
                <a:srgbClr val="1967D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MODULO 09 • DIAGRAMMA E/R • ANALISI ZERO-SHOT DELLE SERIE STORICHE</a:t>
            </a:r>
            <a:endParaRPr b="1" sz="10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48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7e + 7f + 7g)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4" name="Google Shape;504;p48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Aggregazione giornaliera dei difetti in una serie storica per TimesFM 2.5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48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09: Analisi Zero-Shot delle Serie Storiche                                                                 Slide 36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6" name="Google Shape;50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96" y="2377440"/>
            <a:ext cx="8467009" cy="783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9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MODULO 09 • LISTATO SQL SINTETICO • ANALISI ZERO-SHOT DELLE SERIE STORICHE</a:t>
            </a:r>
            <a:endParaRPr b="1" sz="10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9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7e + 7f + 7g)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3" name="Google Shape;513;p49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Query 7e, 7f &amp; 7g — Rilevamento anomalie, previsione multivariata e backtesting TimesFM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9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09: Analisi Zero-Shot delle Serie Storiche                                                                 Slide 37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9"/>
          <p:cNvSpPr txBox="1"/>
          <p:nvPr/>
        </p:nvSpPr>
        <p:spPr>
          <a:xfrm>
            <a:off x="457200" y="965200"/>
            <a:ext cx="5537100" cy="375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-- Condivisa: </a:t>
            </a:r>
            <a:r>
              <a:rPr b="1" i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 daily_defects AS (SELECT TIMESTAMP(review_date)...</a:t>
            </a:r>
            <a:endParaRPr i="1"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--   COUNTIF(is_defect_report) AS defect_count, AVG(severity)...)</a:t>
            </a:r>
            <a:endParaRPr i="1"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-- 7e. Rilevamento Anomalie Zero-Shot:</a:t>
            </a:r>
            <a:endParaRPr i="1"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AI.DETECT_ANOMALIES(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TABLE(SELECT * FROM daily_defects </a:t>
            </a: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review_date &lt;  '2025-03-10'),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TABLE(SELECT * FROM daily_defects </a:t>
            </a: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review_date &gt;= '2025-03-10'),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data_col =&gt; 'defect_count', timestamp_col =&gt; 'review_date',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model =&gt; 'TimesFM 2.5', anomaly_prob_threshold =&gt; 0.80);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-- 7f. Previsione Multivariata con Covariate Storiche:</a:t>
            </a:r>
            <a:endParaRPr i="1"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AI.FORECAST(TABLE(daily_defects),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timestamp_col =&gt; 'review_date',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target_cols =&gt; ['defect_count', 'avg_severity'],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past_covariate_cols =&gt; ['total_reviews'],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model =&gt; 'TimesFM 2.5', horizon =&gt; 7, confidence_level =&gt; 0.90);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-- 7g. Valutazione Backtesting Zero-Shot (MAE, RMSE, sMAPE):</a:t>
            </a:r>
            <a:endParaRPr i="1"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AI.EVALUATE(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TABLE(SELECT * FROM daily_defects </a:t>
            </a: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review_date &lt;  '2025-03-10'),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TABLE(SELECT * FROM daily_defects </a:t>
            </a:r>
            <a:r>
              <a:rPr b="1" lang="en" sz="10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review_date &gt;= '2025-03-10'),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data_col =&gt; 'defect_count', timestamp_col =&gt; 'review_date',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model =&gt; 'TimesFM 2.5');</a:t>
            </a:r>
            <a:endParaRPr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6" name="Google Shape;516;p49"/>
          <p:cNvSpPr txBox="1"/>
          <p:nvPr/>
        </p:nvSpPr>
        <p:spPr>
          <a:xfrm>
            <a:off x="6121400" y="965200"/>
            <a:ext cx="2565300" cy="11811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🔴 AI.DETECT_ANOMALIES(TABLE(history), TABLE(target), ...)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(7e): 2 TABLE(...), data_col, timestamp_col, model, anomaly_prob_threshold (FLOAT64). Out: tabella con is_anomaly (BOOL).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6121400" y="2247900"/>
            <a:ext cx="2565300" cy="11811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🔵 AI.FORECAST(TABLE(...), target_cols =&gt; [...], ...)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(7f): TABLE, timestamp_col, target_cols (ARRAY&lt;STRING&gt;), past_covariate_cols (ARRAY&lt;STRING&gt;), horizon (INT64), confidence_level.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49"/>
          <p:cNvSpPr txBox="1"/>
          <p:nvPr/>
        </p:nvSpPr>
        <p:spPr>
          <a:xfrm>
            <a:off x="6121400" y="3530600"/>
            <a:ext cx="2565300" cy="11811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🟢 AI.EVALUATE(TABLE(history), TABLE(actuals), ...)</a:t>
            </a:r>
            <a:endParaRPr b="1"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In (7g): 2 TABLE(...), data_col, timestamp_col, model =&gt; 'TimesFM 2.5'. Out: tabella con MAE, RMSE e sMAPE (FLOAT64).</a:t>
            </a:r>
            <a:endParaRPr sz="10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0"/>
          <p:cNvSpPr txBox="1"/>
          <p:nvPr/>
        </p:nvSpPr>
        <p:spPr>
          <a:xfrm>
            <a:off x="457200" y="177800"/>
            <a:ext cx="5232300" cy="228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MODULO 09 • PARTICOLARITÀ TECNICHE • ANALISI ZERO-SHOT DELLE SERIE STORICHE</a:t>
            </a:r>
            <a:endParaRPr b="1" sz="10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50"/>
          <p:cNvSpPr txBox="1"/>
          <p:nvPr/>
        </p:nvSpPr>
        <p:spPr>
          <a:xfrm>
            <a:off x="5765800" y="177800"/>
            <a:ext cx="2921100" cy="228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sql/07_key_drivers_and_ai_agg_enhancements.sql (Query 7e + 7f + 7g)</a:t>
            </a:r>
            <a:endParaRPr sz="10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457200" y="4572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Funzioni foundation zero-shot per serie storiche integrate direttamente in BigQuery SQL</a:t>
            </a:r>
            <a:endParaRPr b="1" sz="15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0"/>
          <p:cNvSpPr txBox="1"/>
          <p:nvPr/>
        </p:nvSpPr>
        <p:spPr>
          <a:xfrm>
            <a:off x="457200" y="482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Modulo 09: Analisi Zero-Shot delle Serie Storiche                                                                 Slide 38 / 38</a:t>
            </a:r>
            <a:endParaRPr sz="10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0"/>
          <p:cNvSpPr/>
          <p:nvPr/>
        </p:nvSpPr>
        <p:spPr>
          <a:xfrm>
            <a:off x="457200" y="990600"/>
            <a:ext cx="26415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0"/>
          <p:cNvSpPr txBox="1"/>
          <p:nvPr/>
        </p:nvSpPr>
        <p:spPr>
          <a:xfrm>
            <a:off x="457200" y="1066800"/>
            <a:ext cx="2641500" cy="30987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7e. AI.DETECT_ANOMALIES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Confronto Storico vs Finestra Target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Prende due TABLE(): lo storico baseline (&lt; 2025-03-10) e la finestra da ispezionare (&gt;= 2025-03-10)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anomaly_prob_threshold =&gt; 0.80 imposta la sensibilità degli intervalli di confidenza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Restituisce is_anomaly (BOOL), lower_bound, upper_bound e anomaly_probability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50"/>
          <p:cNvSpPr/>
          <p:nvPr/>
        </p:nvSpPr>
        <p:spPr>
          <a:xfrm>
            <a:off x="3251200" y="990600"/>
            <a:ext cx="26415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0"/>
          <p:cNvSpPr txBox="1"/>
          <p:nvPr/>
        </p:nvSpPr>
        <p:spPr>
          <a:xfrm>
            <a:off x="3251200" y="1066800"/>
            <a:ext cx="2641500" cy="3098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7f. AI.FORECAST MULTIVARIATO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Multi-Target + Covariate Storiche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target_cols =&gt; ['defect_count', 'avg_severity'] prevede più metriche simultaneamente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past_covariate_cols =&gt; ['total_reviews'] usa il volume totale recensioni per affinare la stima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horizon =&gt; 7 proietta i 7 giorni successivi con intervalli di confidenza al 90%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50"/>
          <p:cNvSpPr/>
          <p:nvPr/>
        </p:nvSpPr>
        <p:spPr>
          <a:xfrm>
            <a:off x="6045200" y="990600"/>
            <a:ext cx="26415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0"/>
          <p:cNvSpPr txBox="1"/>
          <p:nvPr/>
        </p:nvSpPr>
        <p:spPr>
          <a:xfrm>
            <a:off x="6045200" y="1066800"/>
            <a:ext cx="2641500" cy="3098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7g. AI.EVALUATE</a:t>
            </a:r>
            <a:endParaRPr b="1"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Backtesting Zero-Shot Immediato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Confronta la finestra di training con i dati reali osservati nella finestra di holdout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Calcola istantaneamente mean_absolute_error (MAE), root_mean_squared_error (RMSE) e sMAPE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Permette di validare l'affidabilità di TimesFM 2.5 prima di metterlo in produzione</a:t>
            </a:r>
            <a:endParaRPr sz="10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0"/>
          <p:cNvSpPr txBox="1"/>
          <p:nvPr/>
        </p:nvSpPr>
        <p:spPr>
          <a:xfrm>
            <a:off x="457200" y="4292600"/>
            <a:ext cx="8229600" cy="43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Costrutto Chiave: TimesFM 2.5: AI.DETECT_ANOMALIES, AI.FORECAST Multivariato &amp; AI.EVALUATE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